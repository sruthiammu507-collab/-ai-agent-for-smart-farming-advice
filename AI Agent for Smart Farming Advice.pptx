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p:scale>
          <a:sx n="75" d="100"/>
          <a:sy n="75" d="100"/>
        </p:scale>
        <p:origin x="94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774015719"/>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Shruthi Pallerla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sruthiammu507@gmail.com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8919724562</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Agriculture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[AI Agent for Smart Farming Advice]</a:t>
            </a:r>
            <a:endParaRPr lang="en-IN" sz="2400" b="1" dirty="0">
              <a:highlight>
                <a:srgbClr val="FFFF00"/>
              </a:highlight>
            </a:endParaRPr>
          </a:p>
        </p:txBody>
      </p:sp>
      <p:pic>
        <p:nvPicPr>
          <p:cNvPr id="3" name="Picture 2">
            <a:extLst>
              <a:ext uri="{FF2B5EF4-FFF2-40B4-BE49-F238E27FC236}">
                <a16:creationId xmlns:a16="http://schemas.microsoft.com/office/drawing/2014/main" id="{34C4AA7D-17A9-E08C-54C7-CC0B2B99F912}"/>
              </a:ext>
            </a:extLst>
          </p:cNvPr>
          <p:cNvPicPr>
            <a:picLocks noChangeAspect="1"/>
          </p:cNvPicPr>
          <p:nvPr/>
        </p:nvPicPr>
        <p:blipFill>
          <a:blip r:embed="rId3"/>
          <a:stretch>
            <a:fillRect/>
          </a:stretch>
        </p:blipFill>
        <p:spPr>
          <a:xfrm>
            <a:off x="4129549" y="3683879"/>
            <a:ext cx="934063" cy="10705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17079" y="969108"/>
            <a:ext cx="10607040" cy="6678751"/>
          </a:xfrm>
          <a:prstGeom prst="rect">
            <a:avLst/>
          </a:prstGeom>
          <a:noFill/>
        </p:spPr>
        <p:txBody>
          <a:bodyPr wrap="square" rtlCol="0">
            <a:spAutoFit/>
          </a:bodyPr>
          <a:lstStyle/>
          <a:p>
            <a:pPr fontAlgn="base"/>
            <a:r>
              <a:rPr lang="en-US" sz="1800" b="1" dirty="0"/>
              <a:t>Problem Statement : </a:t>
            </a:r>
            <a:r>
              <a:rPr lang="en-US" sz="1800" dirty="0"/>
              <a:t> </a:t>
            </a:r>
            <a:r>
              <a:rPr lang="en-IN" sz="1800" dirty="0"/>
              <a:t>– AI Agent for Smart Farming Advice </a:t>
            </a:r>
            <a:endParaRPr lang="en-US" sz="1800" dirty="0"/>
          </a:p>
          <a:p>
            <a:pPr fontAlgn="base"/>
            <a:endParaRPr lang="en-US" sz="1800" b="1" dirty="0"/>
          </a:p>
          <a:p>
            <a:pPr fontAlgn="base"/>
            <a:r>
              <a:rPr lang="en-US" sz="1800" b="1" dirty="0"/>
              <a:t>The Challenge:</a:t>
            </a:r>
            <a:r>
              <a:rPr lang="en-IN" sz="1800" dirty="0"/>
              <a:t>The Smart Farming AI Agent is an AI-based system that uses Retrieval-Augmented Generation (RAG) to provide real-time agricultural advice. It retrieves information from trusted sources such as weather services, agricultural departments, and market platforms. The agent helps farmers with crop selection, soil management, pest control, and weather forecasting. Farmers can ask questions in their local language and receive accurate, location-specific recommendations. It also provides current market prices to help farmers make better selling decisions. This technology improves productivity, reduces risks, and increases farmers' income.</a:t>
            </a:r>
            <a:endParaRPr lang="en-US" sz="1800" dirty="0"/>
          </a:p>
          <a:p>
            <a:pPr fontAlgn="base"/>
            <a:endParaRPr lang="en-US" sz="1800" dirty="0"/>
          </a:p>
          <a:p>
            <a:pPr fontAlgn="base"/>
            <a:r>
              <a:rPr lang="en-US" sz="1800" b="1" dirty="0"/>
              <a:t>The Objective</a:t>
            </a:r>
            <a:r>
              <a:rPr lang="en-US" sz="1800" dirty="0"/>
              <a:t> :</a:t>
            </a:r>
          </a:p>
          <a:p>
            <a:r>
              <a:rPr lang="en-IN" sz="1800" b="1" dirty="0"/>
              <a:t>Personalized Crop Recommendations</a:t>
            </a:r>
            <a:r>
              <a:rPr lang="en-IN" sz="1800" dirty="0"/>
              <a:t> – Suggest suitable crops based on soil type, weather conditions, season, and local farming practices. </a:t>
            </a:r>
          </a:p>
          <a:p>
            <a:r>
              <a:rPr lang="en-IN" sz="1800" b="1" dirty="0"/>
              <a:t>Real-Time Agricultural Data Retrieval</a:t>
            </a:r>
            <a:r>
              <a:rPr lang="en-IN" sz="1800" dirty="0"/>
              <a:t> – Fetch and summarize information from trusted sources such as weather departments, agricultural databases, and market platforms. </a:t>
            </a:r>
          </a:p>
          <a:p>
            <a:r>
              <a:rPr lang="en-IN" sz="1800" b="1" dirty="0"/>
              <a:t>Pest and Disease Management</a:t>
            </a:r>
            <a:r>
              <a:rPr lang="en-IN" sz="1800" dirty="0"/>
              <a:t> – Provide early warnings, preventive measures, and treatment recommendations for crop protection. </a:t>
            </a:r>
          </a:p>
          <a:p>
            <a:r>
              <a:rPr lang="en-IN" sz="1800" b="1" dirty="0"/>
              <a:t>Market Price Intelligence</a:t>
            </a:r>
            <a:r>
              <a:rPr lang="en-IN" sz="1800" dirty="0"/>
              <a:t> – Deliver current mandi and market prices to help farmers make profitable selling decisions. </a:t>
            </a:r>
          </a:p>
          <a:p>
            <a:r>
              <a:rPr lang="en-IN" sz="1800" b="1" dirty="0"/>
              <a:t>Multilingual Farmer Assistance</a:t>
            </a:r>
            <a:r>
              <a:rPr lang="en-IN" sz="1800" dirty="0"/>
              <a:t> – Enable farmers to interact with the system in their local language for easy access to information. </a:t>
            </a:r>
          </a:p>
          <a:p>
            <a:pPr fontAlgn="base"/>
            <a:endParaRPr lang="en-US" sz="1800" dirty="0"/>
          </a:p>
          <a:p>
            <a:pPr fontAlgn="base"/>
            <a:endParaRPr lang="en-US" sz="1800"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418756" y="3992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576072" y="1165753"/>
            <a:ext cx="10607040" cy="3385542"/>
          </a:xfrm>
          <a:prstGeom prst="rect">
            <a:avLst/>
          </a:prstGeom>
          <a:noFill/>
        </p:spPr>
        <p:txBody>
          <a:bodyPr wrap="square" rtlCol="0">
            <a:spAutoFit/>
          </a:bodyPr>
          <a:lstStyle/>
          <a:p>
            <a:pPr fontAlgn="base"/>
            <a:endParaRPr lang="en-US" b="1" dirty="0"/>
          </a:p>
          <a:p>
            <a:pPr fontAlgn="base"/>
            <a:r>
              <a:rPr lang="en-IN" sz="1800" b="1" dirty="0"/>
              <a:t>Tech Stack (Mandatory)</a:t>
            </a:r>
            <a:r>
              <a:rPr lang="en-IN" sz="1800" dirty="0"/>
              <a:t> </a:t>
            </a:r>
          </a:p>
          <a:p>
            <a:pPr fontAlgn="base"/>
            <a:r>
              <a:rPr lang="en-IN" sz="1800" dirty="0"/>
              <a:t>Use </a:t>
            </a:r>
            <a:r>
              <a:rPr lang="en-IN" sz="1800" b="1" dirty="0"/>
              <a:t>any one</a:t>
            </a:r>
            <a:r>
              <a:rPr lang="en-IN" sz="1800" dirty="0"/>
              <a:t> of the following approaches: </a:t>
            </a:r>
          </a:p>
          <a:p>
            <a:pPr marL="285750" indent="-285750" fontAlgn="base">
              <a:buFont typeface="Arial" panose="020B0604020202020204" pitchFamily="34" charset="0"/>
              <a:buChar char="•"/>
            </a:pPr>
            <a:r>
              <a:rPr lang="en-IN" sz="1800" dirty="0" err="1"/>
              <a:t>LangFlow</a:t>
            </a:r>
            <a:r>
              <a:rPr lang="en-IN" sz="1800" dirty="0"/>
              <a:t> + IBM watsonx.ai + Granite Models </a:t>
            </a:r>
          </a:p>
          <a:p>
            <a:pPr marL="285750" indent="-285750" fontAlgn="base">
              <a:buFont typeface="Arial" panose="020B0604020202020204" pitchFamily="34" charset="0"/>
              <a:buChar char="•"/>
            </a:pPr>
            <a:r>
              <a:rPr lang="en-IN" sz="1800" dirty="0"/>
              <a:t>IBM Cloud Agentic Lab with IBM Granite Models </a:t>
            </a:r>
          </a:p>
          <a:p>
            <a:pPr marL="285750" indent="-285750" fontAlgn="base">
              <a:buFont typeface="Arial" panose="020B0604020202020204" pitchFamily="34" charset="0"/>
              <a:buChar char="•"/>
            </a:pPr>
            <a:r>
              <a:rPr lang="en-IN" sz="1800" dirty="0"/>
              <a:t>Replicate with </a:t>
            </a:r>
            <a:r>
              <a:rPr lang="en-IN" sz="1800" dirty="0" err="1"/>
              <a:t>LangChain</a:t>
            </a:r>
            <a:r>
              <a:rPr lang="en-IN" sz="1800" dirty="0"/>
              <a:t> + RAG + IBM Granite Models</a:t>
            </a:r>
          </a:p>
          <a:p>
            <a:pPr marL="285750" indent="-285750" fontAlgn="base">
              <a:buFont typeface="Arial" panose="020B0604020202020204" pitchFamily="34" charset="0"/>
              <a:buChar char="•"/>
            </a:pPr>
            <a:endParaRPr lang="en-IN" sz="1800" dirty="0"/>
          </a:p>
          <a:p>
            <a:pPr fontAlgn="base"/>
            <a:r>
              <a:rPr lang="en-IN" sz="1800" dirty="0"/>
              <a:t>I used </a:t>
            </a:r>
            <a:r>
              <a:rPr lang="en-IN" sz="1800" dirty="0" err="1">
                <a:highlight>
                  <a:srgbClr val="FFFF00"/>
                </a:highlight>
              </a:rPr>
              <a:t>LangFlow</a:t>
            </a:r>
            <a:r>
              <a:rPr lang="en-IN" sz="1800" dirty="0">
                <a:highlight>
                  <a:srgbClr val="FFFF00"/>
                </a:highlight>
              </a:rPr>
              <a:t> + IBM watsonx.ai + Granite Models </a:t>
            </a:r>
          </a:p>
          <a:p>
            <a:pPr fontAlgn="base"/>
            <a:endParaRPr lang="en-IN" sz="1800"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724644"/>
          </a:xfrm>
          <a:prstGeom prst="rect">
            <a:avLst/>
          </a:prstGeom>
          <a:noFill/>
        </p:spPr>
        <p:txBody>
          <a:bodyPr wrap="square" rtlCol="0">
            <a:spAutoFit/>
          </a:bodyPr>
          <a:lstStyle/>
          <a:p>
            <a:pPr fontAlgn="base"/>
            <a:endParaRPr lang="en-US" b="1" dirty="0"/>
          </a:p>
          <a:p>
            <a:r>
              <a:rPr lang="en-IN" sz="1800" b="1" dirty="0"/>
              <a:t>Proposed Solution – AI Agent for Smart Farming Advice</a:t>
            </a:r>
          </a:p>
          <a:p>
            <a:r>
              <a:rPr lang="en-IN" sz="1800" dirty="0"/>
              <a:t>The proposed solution is an AI-powered Smart Farming Assistant that helps farmers make informed agricultural decisions using</a:t>
            </a:r>
          </a:p>
          <a:p>
            <a:r>
              <a:rPr lang="en-IN" sz="1800" dirty="0"/>
              <a:t> real-time data and intelligent recommendations. </a:t>
            </a:r>
          </a:p>
          <a:p>
            <a:r>
              <a:rPr lang="en-IN" sz="1800" dirty="0"/>
              <a:t>The system uses </a:t>
            </a:r>
            <a:r>
              <a:rPr lang="en-IN" sz="1800" b="1" dirty="0"/>
              <a:t>IBM Granite</a:t>
            </a:r>
            <a:r>
              <a:rPr lang="en-IN" sz="1800" dirty="0"/>
              <a:t> as the Large Language Model (LLM) and </a:t>
            </a:r>
            <a:r>
              <a:rPr lang="en-IN" sz="1800" b="1" dirty="0"/>
              <a:t>IBM Watsonx.ai</a:t>
            </a:r>
            <a:r>
              <a:rPr lang="en-IN" sz="1800" dirty="0"/>
              <a:t> to process farmer queries and generate personalized responses. Through </a:t>
            </a:r>
            <a:r>
              <a:rPr lang="en-IN" sz="1800" b="1" dirty="0"/>
              <a:t>Retrieval-Augmented Generation (RAG)</a:t>
            </a:r>
            <a:r>
              <a:rPr lang="en-IN" sz="1800" dirty="0"/>
              <a:t>, the agent retrieves up-to-date information from trusted sources such as weather services, agricultural departments, soil databases, and market platforms.</a:t>
            </a:r>
          </a:p>
          <a:p>
            <a:r>
              <a:rPr lang="en-IN" sz="1800" dirty="0"/>
              <a:t>Farmers can interact with the system in their local language through text or voice. The AI agent provides crop recommendations based on soil conditions, season, and climate, while also offering guidance on irrigation, fertilizer usage, pest control, and disease management. The system continuously monitors weather forecasts and sends alerts about adverse conditions that may affect crops.</a:t>
            </a:r>
          </a:p>
          <a:p>
            <a:r>
              <a:rPr lang="en-IN" sz="1800" dirty="0"/>
              <a:t>A multi-agent architecture is used, consisting of a </a:t>
            </a:r>
            <a:r>
              <a:rPr lang="en-IN" sz="1800" b="1" dirty="0"/>
              <a:t>Weather Information Agent</a:t>
            </a:r>
            <a:r>
              <a:rPr lang="en-IN" sz="1800" dirty="0"/>
              <a:t>, </a:t>
            </a:r>
            <a:r>
              <a:rPr lang="en-IN" sz="1800" b="1" dirty="0"/>
              <a:t>Crop Recommendation Agent</a:t>
            </a:r>
            <a:r>
              <a:rPr lang="en-IN" sz="1800" dirty="0"/>
              <a:t>, </a:t>
            </a:r>
            <a:r>
              <a:rPr lang="en-IN" sz="1800" b="1" dirty="0"/>
              <a:t>Pest &amp; Disease Advisory Agent</a:t>
            </a:r>
            <a:r>
              <a:rPr lang="en-IN" sz="1800" dirty="0"/>
              <a:t>, and </a:t>
            </a:r>
            <a:r>
              <a:rPr lang="en-IN" sz="1800" b="1" dirty="0"/>
              <a:t>Market Intelligence Agent</a:t>
            </a:r>
            <a:r>
              <a:rPr lang="en-IN" sz="1800" dirty="0"/>
              <a:t>. These agents work together to provide accurate, location-specific farming advice. A dashboard displays weather updates, crop information, soil insights, and current market prices, enabling farmers to make data-driven decisions that improve productivity, reduce risks, and increase income</a:t>
            </a:r>
            <a:r>
              <a:rPr lang="en-IN" dirty="0"/>
              <a:t>.</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6986528"/>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endParaRPr lang="en-US" dirty="0"/>
          </a:p>
          <a:p>
            <a:endParaRPr lang="en-US" dirty="0"/>
          </a:p>
          <a:p>
            <a:r>
              <a:rPr lang="en-US" dirty="0"/>
              <a:t>6) </a:t>
            </a:r>
            <a:r>
              <a:rPr lang="en-US" dirty="0">
                <a:highlight>
                  <a:srgbClr val="FFFF00"/>
                </a:highlight>
              </a:rPr>
              <a:t>A</a:t>
            </a:r>
            <a:r>
              <a:rPr lang="en-IN" b="1" dirty="0">
                <a:highlight>
                  <a:srgbClr val="FFFF00"/>
                </a:highlight>
              </a:rPr>
              <a:t> Weather Data Component</a:t>
            </a:r>
            <a:r>
              <a:rPr lang="en-IN" dirty="0">
                <a:highlight>
                  <a:srgbClr val="FFFF00"/>
                </a:highlight>
              </a:rPr>
              <a:t> – Retrieves real-time weather forecasts, rainfall predictions, temperature, and humidity data to support farming decisions. </a:t>
            </a:r>
            <a:r>
              <a:rPr lang="en-US" dirty="0">
                <a:highlight>
                  <a:srgbClr val="FFFF00"/>
                </a:highlight>
              </a:rPr>
              <a:t>dd name of any other component used.</a:t>
            </a:r>
          </a:p>
          <a:p>
            <a:endParaRPr lang="en-US" dirty="0">
              <a:highlight>
                <a:srgbClr val="FFFF00"/>
              </a:highlight>
            </a:endParaRPr>
          </a:p>
          <a:p>
            <a:r>
              <a:rPr lang="en-US" b="1" dirty="0">
                <a:solidFill>
                  <a:schemeClr val="tx1"/>
                </a:solidFill>
                <a:highlight>
                  <a:srgbClr val="FFFF00"/>
                </a:highlight>
              </a:rPr>
              <a:t>7</a:t>
            </a:r>
            <a:r>
              <a:rPr lang="en-US" b="1" dirty="0">
                <a:highlight>
                  <a:srgbClr val="FFFF00"/>
                </a:highlight>
              </a:rPr>
              <a:t>)</a:t>
            </a:r>
            <a:r>
              <a:rPr lang="en-IN" b="1" dirty="0"/>
              <a:t>Crop Recommendation Component</a:t>
            </a:r>
            <a:r>
              <a:rPr lang="en-IN" dirty="0"/>
              <a:t> – Suggests suitable crops based on soil and climate conditions. </a:t>
            </a:r>
            <a:r>
              <a:rPr lang="en-IN" b="1" dirty="0"/>
              <a:t>Market Price Component</a:t>
            </a:r>
            <a:r>
              <a:rPr lang="en-IN" dirty="0"/>
              <a:t> – Fetches current mandi and market prices for crops.</a:t>
            </a:r>
          </a:p>
          <a:p>
            <a:r>
              <a:rPr lang="en-IN" dirty="0"/>
              <a:t> </a:t>
            </a:r>
            <a:r>
              <a:rPr lang="en-IN" b="1" dirty="0"/>
              <a:t>Pest &amp; Disease Detection Component</a:t>
            </a:r>
            <a:r>
              <a:rPr lang="en-IN" dirty="0"/>
              <a:t> – Provides alerts and treatment recommendations for crop diseases. </a:t>
            </a:r>
            <a:r>
              <a:rPr lang="en-IN" b="1" dirty="0"/>
              <a:t>Soil Analysis Component</a:t>
            </a:r>
            <a:r>
              <a:rPr lang="en-IN" dirty="0"/>
              <a:t> – Stores and </a:t>
            </a:r>
            <a:r>
              <a:rPr lang="en-IN" dirty="0" err="1"/>
              <a:t>analyzes</a:t>
            </a:r>
            <a:r>
              <a:rPr lang="en-IN" dirty="0"/>
              <a:t> soil data to recommend fertilizers and crops.</a:t>
            </a:r>
            <a:endParaRPr lang="en-US" dirty="0">
              <a:highlight>
                <a:srgbClr val="FFFF00"/>
              </a:highlight>
            </a:endParaRPr>
          </a:p>
          <a:p>
            <a:pPr marL="342900" indent="-342900">
              <a:buAutoNum type="arabicParenR" startAt="3"/>
            </a:pPr>
            <a:endParaRPr lang="en-US" dirty="0"/>
          </a:p>
          <a:p>
            <a:r>
              <a:rPr lang="en-US" b="1" dirty="0">
                <a:solidFill>
                  <a:schemeClr val="tx1"/>
                </a:solidFill>
                <a:highlight>
                  <a:srgbClr val="FFFF00"/>
                </a:highlight>
              </a:rPr>
              <a:t>8)  </a:t>
            </a:r>
            <a:r>
              <a:rPr lang="en-IN" b="1" dirty="0">
                <a:highlight>
                  <a:srgbClr val="FFFF00"/>
                </a:highlight>
              </a:rPr>
              <a:t>Crop Recommendation Component</a:t>
            </a:r>
            <a:r>
              <a:rPr lang="en-IN" dirty="0">
                <a:highlight>
                  <a:srgbClr val="FFFF00"/>
                </a:highlight>
              </a:rPr>
              <a:t> – Stores and </a:t>
            </a:r>
            <a:r>
              <a:rPr lang="en-IN" dirty="0" err="1">
                <a:highlight>
                  <a:srgbClr val="FFFF00"/>
                </a:highlight>
              </a:rPr>
              <a:t>analyzes</a:t>
            </a:r>
            <a:r>
              <a:rPr lang="en-IN" dirty="0">
                <a:highlight>
                  <a:srgbClr val="FFFF00"/>
                </a:highlight>
              </a:rPr>
              <a:t> soil, weather, and seasonal data to recommend the most suitable crops for farmers.</a:t>
            </a:r>
          </a:p>
          <a:p>
            <a:endParaRPr lang="en-US" b="1" dirty="0">
              <a:solidFill>
                <a:schemeClr val="tx1"/>
              </a:solidFill>
              <a:highlight>
                <a:srgbClr val="FFFF00"/>
              </a:highlight>
            </a:endParaRPr>
          </a:p>
          <a:p>
            <a:endParaRPr lang="en-US" b="1" dirty="0">
              <a:solidFill>
                <a:schemeClr val="tx1"/>
              </a:solidFill>
              <a:highlight>
                <a:srgbClr val="FFFF00"/>
              </a:highlight>
            </a:endParaRPr>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0ED6180B-1283-9C2F-2D3B-E5FA3CBEC013}"/>
              </a:ext>
            </a:extLst>
          </p:cNvPr>
          <p:cNvPicPr>
            <a:picLocks noChangeAspect="1"/>
          </p:cNvPicPr>
          <p:nvPr/>
        </p:nvPicPr>
        <p:blipFill>
          <a:blip r:embed="rId3"/>
          <a:stretch>
            <a:fillRect/>
          </a:stretch>
        </p:blipFill>
        <p:spPr>
          <a:xfrm>
            <a:off x="254000" y="1168400"/>
            <a:ext cx="11094720" cy="5366361"/>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608710" y="305816"/>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1CD6CFEB-2933-0912-3402-F07647932B94}"/>
              </a:ext>
            </a:extLst>
          </p:cNvPr>
          <p:cNvPicPr>
            <a:picLocks noChangeAspect="1"/>
          </p:cNvPicPr>
          <p:nvPr/>
        </p:nvPicPr>
        <p:blipFill>
          <a:blip r:embed="rId3"/>
          <a:stretch>
            <a:fillRect/>
          </a:stretch>
        </p:blipFill>
        <p:spPr>
          <a:xfrm>
            <a:off x="477520" y="754324"/>
            <a:ext cx="10761980" cy="57074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85648" y="32410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401205"/>
          </a:xfrm>
          <a:prstGeom prst="rect">
            <a:avLst/>
          </a:prstGeom>
          <a:noFill/>
        </p:spPr>
        <p:txBody>
          <a:bodyPr wrap="square" rtlCol="0">
            <a:spAutoFit/>
          </a:bodyPr>
          <a:lstStyle/>
          <a:p>
            <a:r>
              <a:rPr lang="en-IN" b="1" dirty="0"/>
              <a:t>Role of Agentic AI in Smart Farming Advice</a:t>
            </a:r>
          </a:p>
          <a:p>
            <a:r>
              <a:rPr lang="en-IN" dirty="0"/>
              <a:t>Agentic AI enables the Smart Farming Agent to function as an intelligent, autonomous agricultural assistant rather than a simple question-answering system. Using </a:t>
            </a:r>
            <a:r>
              <a:rPr lang="en-IN" b="1" dirty="0"/>
              <a:t>IBM watsonx.ai</a:t>
            </a:r>
            <a:r>
              <a:rPr lang="en-IN" dirty="0"/>
              <a:t> and </a:t>
            </a:r>
            <a:r>
              <a:rPr lang="en-IN" b="1" dirty="0"/>
              <a:t>IBM Granite models</a:t>
            </a:r>
            <a:r>
              <a:rPr lang="en-IN" dirty="0"/>
              <a:t>, it coordinates multiple specialized agents to provide personalized and data-driven farming recommendations.</a:t>
            </a:r>
          </a:p>
          <a:p>
            <a:r>
              <a:rPr lang="en-IN" dirty="0"/>
              <a:t>Each agent performs a specific role—such as retrieving weather information, recommending suitable crops, monitoring pests and diseases, and </a:t>
            </a:r>
            <a:r>
              <a:rPr lang="en-IN" dirty="0" err="1"/>
              <a:t>analyzing</a:t>
            </a:r>
            <a:r>
              <a:rPr lang="en-IN" dirty="0"/>
              <a:t> market prices—while working collaboratively. This multi-agent approach ensures efficient task execution and accurate agricultural guidance.</a:t>
            </a:r>
          </a:p>
          <a:p>
            <a:r>
              <a:rPr lang="en-IN" dirty="0"/>
              <a:t>Agentic AI also provides context awareness by understanding factors such as soil conditions, crop type, location, season, and weather patterns to generate tailored recommendations for farmers. It supports real-time adaptation by continuously updating advice based on changing environmental conditions and new data sources.</a:t>
            </a:r>
          </a:p>
          <a:p>
            <a:r>
              <a:rPr lang="en-IN" dirty="0"/>
              <a:t>Additionally, the agents communicate with one another, enabling better decision-making and comprehensive farming support. For example, weather forecasts can influence crop recommendations, while market trends can affect harvesting and selling decisions.</a:t>
            </a:r>
          </a:p>
          <a:p>
            <a:r>
              <a:rPr lang="en-IN" dirty="0"/>
              <a:t>Overall, Agentic AI makes the system proactive, intelligent, and goal-driven, acting like a smart digital farming advisor that helps farmers improve productivity, reduce risks, optimize resources, and increase income through informed agricultural decisions.</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6063198"/>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Smart Farming Agent efficiently. IBM Cloud enables a </a:t>
            </a:r>
            <a:r>
              <a:rPr lang="en-US" sz="1800" b="1" dirty="0"/>
              <a:t>reliable, secure, and scalable environment</a:t>
            </a:r>
            <a:r>
              <a:rPr lang="en-US" sz="1800" dirty="0"/>
              <a:t> for agricultural applications.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IN" sz="1800" dirty="0"/>
              <a:t>Retrieves real-time data such as weather forecasts, soil information, crop guidelines, pest control measures, and market prices before generating accurate responses.</a:t>
            </a:r>
          </a:p>
          <a:p>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Stores agricultural knowledge, crop information, weather advisories, pest management data, and market insights as embeddings for efficient  RAG-based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dirty="0"/>
              <a:t>The proposed Smart Farming 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chatbot, multiple specialized agents collaborate to deliver accurate and context-aware nutrition 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a:t>Hyper-Personalization</a:t>
            </a:r>
            <a:r>
              <a:rPr lang="en-IN" sz="1800" dirty="0"/>
              <a:t> – Tailors diet plans based on health conditions, cultural preferences, and fitness goals. </a:t>
            </a:r>
          </a:p>
          <a:p>
            <a:r>
              <a:rPr lang="en-IN" sz="1800" b="1" dirty="0"/>
              <a:t>Real-Time Feedback Loop</a:t>
            </a:r>
            <a:r>
              <a:rPr lang="en-IN" sz="1800" dirty="0"/>
              <a:t> – Continuously adapts recommendations based on daily food logs and user </a:t>
            </a:r>
            <a:r>
              <a:rPr lang="en-IN" sz="1800" dirty="0" err="1"/>
              <a:t>behavior</a:t>
            </a:r>
            <a:r>
              <a:rPr lang="en-IN" sz="1800" dirty="0"/>
              <a:t>. </a:t>
            </a:r>
          </a:p>
          <a:p>
            <a:r>
              <a:rPr lang="en-IN" sz="1800" b="1" dirty="0"/>
              <a:t>Multi-Modal Input</a:t>
            </a:r>
            <a:r>
              <a:rPr lang="en-IN" sz="1800" dirty="0"/>
              <a:t> – Supports text, voice, and image-based meal tracking for better usability. </a:t>
            </a:r>
          </a:p>
          <a:p>
            <a:r>
              <a:rPr lang="en-IN" sz="1800" b="1" dirty="0"/>
              <a:t>Preventive Healthcare Focus</a:t>
            </a:r>
            <a:r>
              <a:rPr lang="en-IN" sz="1800" dirty="0"/>
              <a:t> – Goes beyond diet planning to provide disease-specific nutrition advice. </a:t>
            </a:r>
          </a:p>
          <a:p>
            <a:r>
              <a:rPr lang="en-IN" sz="1800" b="1" dirty="0"/>
              <a:t>Scalable &amp;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proactive digital farming</a:t>
            </a:r>
            <a:r>
              <a:rPr lang="en-IN" sz="1800" dirty="0"/>
              <a:t>, not just a static diet recommendation 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Please create public </a:t>
            </a:r>
            <a:r>
              <a:rPr lang="en-US" sz="1850" b="0" i="0" u="none" strike="noStrike" cap="none" dirty="0" err="1">
                <a:solidFill>
                  <a:srgbClr val="2B3541"/>
                </a:solidFill>
                <a:latin typeface="Times New Roman"/>
                <a:ea typeface="Times New Roman"/>
                <a:cs typeface="Times New Roman"/>
                <a:sym typeface="Times New Roman"/>
              </a:rPr>
              <a:t>github</a:t>
            </a:r>
            <a:r>
              <a:rPr lang="en-US" sz="1850" b="0" i="0" u="none" strike="noStrike" cap="none" dirty="0">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dirty="0">
                <a:solidFill>
                  <a:srgbClr val="2B3541"/>
                </a:solidFill>
                <a:latin typeface="Times New Roman"/>
                <a:ea typeface="Times New Roman"/>
                <a:cs typeface="Times New Roman"/>
                <a:sym typeface="Times New Roman"/>
              </a:rPr>
              <a:t>Please test and Paste the working  </a:t>
            </a: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Make sure you have Uploaded following three files into your </a:t>
            </a:r>
            <a:r>
              <a:rPr lang="en-US" sz="1850" b="1" dirty="0" err="1">
                <a:solidFill>
                  <a:srgbClr val="2B3541"/>
                </a:solidFill>
                <a:latin typeface="Times New Roman"/>
                <a:ea typeface="Times New Roman"/>
                <a:cs typeface="Times New Roman"/>
                <a:sym typeface="Times New Roman"/>
              </a:rPr>
              <a:t>github</a:t>
            </a:r>
            <a:r>
              <a:rPr lang="en-US" sz="1850" b="1" dirty="0">
                <a:solidFill>
                  <a:srgbClr val="2B3541"/>
                </a:solidFill>
                <a:latin typeface="Times New Roman"/>
                <a:ea typeface="Times New Roman"/>
                <a:cs typeface="Times New Roman"/>
                <a:sym typeface="Times New Roman"/>
              </a:rPr>
              <a:t> repository  </a:t>
            </a:r>
            <a:br>
              <a:rPr lang="en-US" sz="1850" dirty="0">
                <a:solidFill>
                  <a:srgbClr val="2B3541"/>
                </a:solidFill>
                <a:latin typeface="Times New Roman"/>
                <a:ea typeface="Times New Roman"/>
                <a:cs typeface="Times New Roman"/>
                <a:sym typeface="Times New Roman"/>
              </a:rPr>
            </a:br>
            <a:r>
              <a:rPr lang="en-US" sz="1850" dirty="0">
                <a:solidFill>
                  <a:srgbClr val="2B3541"/>
                </a:solidFill>
                <a:latin typeface="Times New Roman"/>
                <a:ea typeface="Times New Roman"/>
                <a:cs typeface="Times New Roman"/>
                <a:sym typeface="Times New Roman"/>
              </a:rPr>
              <a:t>1) </a:t>
            </a:r>
            <a:r>
              <a:rPr lang="en-US" sz="1850" dirty="0" err="1">
                <a:solidFill>
                  <a:srgbClr val="2B3541"/>
                </a:solidFill>
                <a:latin typeface="Times New Roman"/>
                <a:ea typeface="Times New Roman"/>
                <a:cs typeface="Times New Roman"/>
                <a:sym typeface="Times New Roman"/>
              </a:rPr>
              <a:t>app.json</a:t>
            </a:r>
            <a:r>
              <a:rPr lang="en-US" sz="1850" dirty="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607330" y="1044263"/>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5AA4C903-50CF-997C-D300-23BCD3AB1620}"/>
              </a:ext>
            </a:extLst>
          </p:cNvPr>
          <p:cNvSpPr txBox="1"/>
          <p:nvPr/>
        </p:nvSpPr>
        <p:spPr>
          <a:xfrm>
            <a:off x="294640" y="894610"/>
            <a:ext cx="9527270" cy="5632311"/>
          </a:xfrm>
          <a:prstGeom prst="rect">
            <a:avLst/>
          </a:prstGeom>
          <a:noFill/>
        </p:spPr>
        <p:txBody>
          <a:bodyPr wrap="square">
            <a:spAutoFit/>
          </a:bodyPr>
          <a:lstStyle/>
          <a:p>
            <a:pPr>
              <a:buNone/>
            </a:pPr>
            <a:r>
              <a:rPr lang="en-IN" sz="1800" b="1" dirty="0"/>
              <a:t>1. Precision Farming</a:t>
            </a:r>
          </a:p>
          <a:p>
            <a:pPr>
              <a:buNone/>
            </a:pPr>
            <a:r>
              <a:rPr lang="en-IN" sz="1800" dirty="0"/>
              <a:t>AI agents will use data from soil sensors, weather stations, and crop monitoring systems to provide accurate recommendations for farming activities. They can determine the exact amount of water, fertilizer, and pesticides needed for each area of a field. This reduces resource wastage and lowers production costs. Precision farming helps improve crop quality and increases overall agricultural productivity. Farmers can make data-driven decisions instead of relying only on experience.</a:t>
            </a:r>
          </a:p>
          <a:p>
            <a:pPr>
              <a:buNone/>
            </a:pPr>
            <a:r>
              <a:rPr lang="en-IN" sz="1800" b="1" dirty="0"/>
              <a:t>2. Real-Time Crop Monitoring</a:t>
            </a:r>
          </a:p>
          <a:p>
            <a:pPr>
              <a:buNone/>
            </a:pPr>
            <a:r>
              <a:rPr lang="en-IN" sz="1800" dirty="0"/>
              <a:t>Future AI agents will continuously monitor crop health through sensors, drones, and satellite imagery. They can identify signs of diseases, pest attacks, water stress, and nutrient deficiencies at an early stage. Early detection allows farmers to take corrective actions before serious damage occurs. AI systems can send instant alerts and suggest suitable treatments. This leads to healthier crops and higher yields.</a:t>
            </a:r>
          </a:p>
          <a:p>
            <a:pPr>
              <a:buNone/>
            </a:pPr>
            <a:r>
              <a:rPr lang="en-IN" sz="1800" b="1" dirty="0"/>
              <a:t>3. Weather-Based Decision Making</a:t>
            </a:r>
          </a:p>
          <a:p>
            <a:pPr>
              <a:buNone/>
            </a:pPr>
            <a:r>
              <a:rPr lang="en-IN" sz="1800" dirty="0"/>
              <a:t>AI agents will </a:t>
            </a:r>
            <a:r>
              <a:rPr lang="en-IN" sz="1800" dirty="0" err="1"/>
              <a:t>analyze</a:t>
            </a:r>
            <a:r>
              <a:rPr lang="en-IN" sz="1800" dirty="0"/>
              <a:t> weather forecasts, rainfall patterns, temperature, humidity, and wind conditions in real time. Based on this information, they can advise farmers on the best time for sowing, irrigation, fertilizer application, and harvesting. Timely recommendations help reduce losses caused by droughts, floods, or unexpected weather changes. Farmers can better prepare for adverse conditions and protect their crops. This improves farm productivity and reduces climate-related risks.</a:t>
            </a: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1596</TotalTime>
  <Words>1655</Words>
  <Application>Microsoft Office PowerPoint</Application>
  <PresentationFormat>Widescreen</PresentationFormat>
  <Paragraphs>123</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Shruthi Pallerla</cp:lastModifiedBy>
  <cp:revision>22</cp:revision>
  <dcterms:created xsi:type="dcterms:W3CDTF">2025-07-08T05:06:56Z</dcterms:created>
  <dcterms:modified xsi:type="dcterms:W3CDTF">2026-06-04T11:47:19Z</dcterms:modified>
</cp:coreProperties>
</file>